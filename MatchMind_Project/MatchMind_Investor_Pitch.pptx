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Revenue Model (Projected Mix)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Projected Revenue Mix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SaaS Subscription</c:v>
                </c:pt>
                <c:pt idx="1">
                  <c:v>Enterprise API</c:v>
                </c:pt>
                <c:pt idx="2">
                  <c:v>Pay-per-Scan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25</c:v>
                </c:pt>
                <c:pt idx="2">
                  <c:v>15</c:v>
                </c:pt>
              </c:numCache>
            </c:numRef>
          </c:val>
        </c:ser>
      </c:pieChart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Performance Targets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Target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Human-System
Alignment</c:v>
                </c:pt>
                <c:pt idx="1">
                  <c:v>Processing
Throughput</c:v>
                </c:pt>
                <c:pt idx="2">
                  <c:v>Extraction
Fidelity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0.92</c:v>
                </c:pt>
                <c:pt idx="1">
                  <c:v>0.95</c:v>
                </c:pt>
                <c:pt idx="2">
                  <c:v>0.96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8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MatchMind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Resume-to-Job Matching Platform</a:t>
            </a:r>
          </a:p>
          <a:p>
            <a:r>
              <a:t>Investor Pitch | 2025</a:t>
            </a:r>
          </a:p>
        </p:txBody>
      </p:sp>
      <p:sp>
        <p:nvSpPr>
          <p:cNvPr id="4" name="Oval 3"/>
          <p:cNvSpPr/>
          <p:nvPr/>
        </p:nvSpPr>
        <p:spPr>
          <a:xfrm>
            <a:off x="7772400" y="274320"/>
            <a:ext cx="914400" cy="914400"/>
          </a:xfrm>
          <a:prstGeom prst="ellipse">
            <a:avLst/>
          </a:prstGeom>
          <a:solidFill>
            <a:srgbClr val="3498DB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Founding Team &amp; Domain Expertise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M Imran Mian – Head of Strategic and Compliance Initiatives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Afshan Ramzan – Security and Core Architect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Dania Saleem – Principal AI/ML Research Scientist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Hafsah Fatima – Chief Growth Officer (CGO)</a:t>
            </a:r>
          </a:p>
          <a:p>
            <a:pPr>
              <a:defRPr sz="1400">
                <a:solidFill>
                  <a:srgbClr val="323232"/>
                </a:solidFill>
              </a:defRPr>
            </a:pP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Collective expertise: NLP deployment, high-concurrency HR workflows, and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enterprise-grade recruitment solutions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323232"/>
                </a:solidFill>
              </a:defRPr>
            </a:pPr>
            <a:r>
              <a:t>📊 High Screening Volume: 1000+ applications per role → manual review impossible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🔍 Keyword Dependency: Legacy ATS misses qualified candidates with different terminology</a:t>
            </a:r>
          </a:p>
          <a:p>
            <a:pPr>
              <a:defRPr sz="1800">
                <a:solidFill>
                  <a:srgbClr val="323232"/>
                </a:solidFill>
              </a:defRPr>
            </a:pPr>
            <a:r>
              <a:t>⏱️ Delayed Hiring Decisions: Extended cycles increase costs &amp; reduce productivity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MatchMind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NLP-powered recruitment screening platform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Automated candidate ranking by comparing resumes against job requirements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Multi-format support: PDF, DOCX, TXT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TF-IDF vectorization + Cosine Similarity scoring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Decision-support system – reduces manual effort, not replaces recruiters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Architecture: System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1463040" cy="731520"/>
          </a:xfrm>
          <a:prstGeom prst="roundRect">
            <a:avLst/>
          </a:prstGeom>
          <a:solidFill>
            <a:srgbClr val="3498DB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INPUT</a:t>
            </a:r>
          </a:p>
          <a:p>
            <a:r>
              <a:t>Job Description + Batch Resumes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755648" y="1645919"/>
            <a:ext cx="182880" cy="182880"/>
          </a:xfrm>
          <a:prstGeom prst="rightArrow">
            <a:avLst/>
          </a:prstGeom>
          <a:solidFill>
            <a:srgbClr val="6464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874519" y="1371600"/>
            <a:ext cx="1463040" cy="731520"/>
          </a:xfrm>
          <a:prstGeom prst="roundRect">
            <a:avLst/>
          </a:prstGeom>
          <a:solidFill>
            <a:srgbClr val="3498DB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EXTRACTION</a:t>
            </a:r>
          </a:p>
          <a:p>
            <a:r>
              <a:t>PDF/DOCX/TXT → Clean Text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355848" y="1645919"/>
            <a:ext cx="182880" cy="182880"/>
          </a:xfrm>
          <a:prstGeom prst="rightArrow">
            <a:avLst/>
          </a:prstGeom>
          <a:solidFill>
            <a:srgbClr val="6464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4720" y="1371600"/>
            <a:ext cx="1463040" cy="731520"/>
          </a:xfrm>
          <a:prstGeom prst="roundRect">
            <a:avLst/>
          </a:prstGeom>
          <a:solidFill>
            <a:srgbClr val="3498DB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VECTORIZATION</a:t>
            </a:r>
          </a:p>
          <a:p>
            <a:r>
              <a:t>TF-IDF Vector Mapping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56048" y="1645919"/>
            <a:ext cx="182880" cy="182880"/>
          </a:xfrm>
          <a:prstGeom prst="rightArrow">
            <a:avLst/>
          </a:prstGeom>
          <a:solidFill>
            <a:srgbClr val="6464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74920" y="1371600"/>
            <a:ext cx="1463040" cy="731520"/>
          </a:xfrm>
          <a:prstGeom prst="roundRect">
            <a:avLst/>
          </a:prstGeom>
          <a:solidFill>
            <a:srgbClr val="3498DB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SCORING</a:t>
            </a:r>
          </a:p>
          <a:p>
            <a:r>
              <a:t>Cosine Similarity Calculation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556248" y="1645919"/>
            <a:ext cx="182880" cy="182880"/>
          </a:xfrm>
          <a:prstGeom prst="rightArrow">
            <a:avLst/>
          </a:prstGeom>
          <a:solidFill>
            <a:srgbClr val="6464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675120" y="1371600"/>
            <a:ext cx="1463040" cy="731520"/>
          </a:xfrm>
          <a:prstGeom prst="roundRect">
            <a:avLst/>
          </a:prstGeom>
          <a:solidFill>
            <a:srgbClr val="3498DB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RANKING</a:t>
            </a:r>
          </a:p>
          <a:p>
            <a:r>
              <a:t>Ranked Candidate Shortlist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Input Phase → Text Extraction → NLP Feature Extraction → Mathematical Scoring → Result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Strategic Reason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Backend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Python / Flask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API-first, high-concurrency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Bootstrap / HTML/CSS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Clean UI for HR staff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ML Libraries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Scikit-learn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Industry-standard vector ops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File Parsing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pdfplumber / docx2txt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High-fidelity text recovery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Matching Engine: TF-IDF + Cosine Similarity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TF-IDF Vectorization: Identifies unique skill signatures and contextual weights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Cosine Similarity: Calculates precise alignment between JD and CV vectors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Production-ready pipeline delivers ranked candidate lists with zero latency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Primary Market: SMEs, Boutique Staffing Agencies, Campus Recruitment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Secondary Market: Enterprise HR Teams, RPO Providers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Key Drivers: Remote hiring growth, AI-assisted talent acquisition, time-to-hire pressure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✅ Faster Hiring – Reduces resume review workload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✅ Consistent Evaluation – Uniform scoring across all applicants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✅ Reduced Recruitment Costs – Decreases recruiter effort overhead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✅ Improved Candidate Discovery – Finds talent beyond keyword matches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✅ Affordable Adoption – SME-friendly alternative to enterprise ATS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Competitor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7150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Competitor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Limitation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MatchMind Edge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Workday / Taleo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Expensive, keyword-heavy,</a:t>
                      </a:r>
                    </a:p>
                    <a:p>
                      <a:r>
                        <a:t>lacks score-based ranking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SME-friendly, deterministic</a:t>
                      </a:r>
                    </a:p>
                    <a:p>
                      <a:r>
                        <a:t>mathematical scoring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Generic LLMs (ChatGPT)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Hallucination risks,</a:t>
                      </a:r>
                    </a:p>
                    <a:p>
                      <a:r>
                        <a:t>lacks batch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Zero-hallucination,</a:t>
                      </a:r>
                    </a:p>
                    <a:p>
                      <a:r>
                        <a:t>purpose-built ranking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Manual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Slow, biased, inconsistent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Instant, objective,</a:t>
                      </a:r>
                    </a:p>
                    <a:p>
                      <a:r>
                        <a:t>data-driven ranking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22860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0" y="228600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23232"/>
                </a:solidFill>
              </a:defRPr>
            </a:pPr>
            <a:r>
              <a:t>SaaS Subscription – Tiered monthly plans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Enterprise API – Integration into existing ERP systems</a:t>
            </a:r>
          </a:p>
          <a:p>
            <a:pPr>
              <a:defRPr sz="1400">
                <a:solidFill>
                  <a:srgbClr val="323232"/>
                </a:solidFill>
              </a:defRPr>
            </a:pPr>
            <a:r>
              <a:t>Pay-per-Scan – On-demand credits for seasonal hiring spikes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274320" y="1828800"/>
            <a:ext cx="1371600" cy="1097280"/>
          </a:xfrm>
          <a:prstGeom prst="rect">
            <a:avLst/>
          </a:prstGeom>
          <a:solidFill>
            <a:srgbClr val="2ECC71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Phase 1</a:t>
            </a:r>
          </a:p>
          <a:p>
            <a:r>
              <a:t>Current MVP</a:t>
            </a:r>
          </a:p>
          <a:p>
            <a:r>
              <a:t>Flask + TF-IDF</a:t>
            </a:r>
          </a:p>
        </p:txBody>
      </p:sp>
      <p:sp>
        <p:nvSpPr>
          <p:cNvPr id="5" name="Right Arrow 4"/>
          <p:cNvSpPr/>
          <p:nvPr/>
        </p:nvSpPr>
        <p:spPr>
          <a:xfrm>
            <a:off x="1691640" y="2286000"/>
            <a:ext cx="137160" cy="182880"/>
          </a:xfrm>
          <a:prstGeom prst="rightArrow">
            <a:avLst/>
          </a:prstGeom>
          <a:solidFill>
            <a:srgbClr val="6464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0" y="1828800"/>
            <a:ext cx="1371600" cy="1097280"/>
          </a:xfrm>
          <a:prstGeom prst="rect">
            <a:avLst/>
          </a:prstGeom>
          <a:solidFill>
            <a:srgbClr val="3498DB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Phase 2</a:t>
            </a:r>
          </a:p>
          <a:p>
            <a:r>
              <a:t>BERT Integration</a:t>
            </a:r>
          </a:p>
          <a:p>
            <a:r>
              <a:t>Deep Learning Embeddings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46120" y="2286000"/>
            <a:ext cx="137160" cy="182880"/>
          </a:xfrm>
          <a:prstGeom prst="rightArrow">
            <a:avLst/>
          </a:prstGeom>
          <a:solidFill>
            <a:srgbClr val="6464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83279" y="1828800"/>
            <a:ext cx="1371600" cy="1097280"/>
          </a:xfrm>
          <a:prstGeom prst="rect">
            <a:avLst/>
          </a:prstGeom>
          <a:solidFill>
            <a:srgbClr val="3498DB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Phase 3</a:t>
            </a:r>
          </a:p>
          <a:p>
            <a:r>
              <a:t>Edge-AI</a:t>
            </a:r>
          </a:p>
          <a:p>
            <a:r>
              <a:t>On-Premise Processing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00599" y="2286000"/>
            <a:ext cx="137160" cy="182880"/>
          </a:xfrm>
          <a:prstGeom prst="rightArrow">
            <a:avLst/>
          </a:prstGeom>
          <a:solidFill>
            <a:srgbClr val="6464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937759" y="1828800"/>
            <a:ext cx="1371600" cy="1097280"/>
          </a:xfrm>
          <a:prstGeom prst="rect">
            <a:avLst/>
          </a:prstGeom>
          <a:solidFill>
            <a:srgbClr val="3498DB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Phase 4</a:t>
            </a:r>
          </a:p>
          <a:p>
            <a:r>
              <a:t>RAG Framework</a:t>
            </a:r>
          </a:p>
          <a:p>
            <a:r>
              <a:t>Context-Aware Retrieval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355079" y="2286000"/>
            <a:ext cx="137160" cy="182880"/>
          </a:xfrm>
          <a:prstGeom prst="rightArrow">
            <a:avLst/>
          </a:prstGeom>
          <a:solidFill>
            <a:srgbClr val="6464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828800"/>
            <a:ext cx="1371600" cy="1097280"/>
          </a:xfrm>
          <a:prstGeom prst="rect">
            <a:avLst/>
          </a:prstGeom>
          <a:solidFill>
            <a:srgbClr val="3498DB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Phase 5</a:t>
            </a:r>
          </a:p>
          <a:p>
            <a:r>
              <a:t>Multimodal</a:t>
            </a:r>
          </a:p>
          <a:p>
            <a:r>
              <a:t>360° Candidate Profiles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23232"/>
                </a:solidFill>
              </a:defRPr>
            </a:pPr>
            <a:r>
              <a:t>BERT Integration → Edge-AI → RAG Framework → Multimodal Intelligence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Targets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2011680"/>
          <a:ext cx="411480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029200" y="182880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23232"/>
                </a:solidFill>
              </a:defRPr>
            </a:pPr>
            <a:r>
              <a:t>Human-System Alignment: 92%+ precision target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Processing Throughput: 95%+ text extraction accuracy</a:t>
            </a:r>
          </a:p>
          <a:p>
            <a:pPr>
              <a:defRPr sz="1300">
                <a:solidFill>
                  <a:srgbClr val="323232"/>
                </a:solidFill>
              </a:defRPr>
            </a:pPr>
            <a:r>
              <a:t>Extraction Fidelity: Absolute accuracy on complex document layouts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Seeking strategic funding for global recruitment market expansion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Current MVP deployed – Flask-based web interface with batch processing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Target segments: Boutique Staffing Agencies &amp; Campus Recruiters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Differentiation: Zero-hallucination mathematical scoring</a:t>
            </a:r>
          </a:p>
          <a:p>
            <a:pPr>
              <a:defRPr sz="1600">
                <a:solidFill>
                  <a:srgbClr val="323232"/>
                </a:solidFill>
              </a:defRPr>
            </a:pPr>
            <a:r>
              <a:t>Equity Structure &amp; Fundraising Goals: TBD (available upon discussion)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